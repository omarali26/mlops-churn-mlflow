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Accuracy over Time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ln w="38100" cap="flat">
              <a:solidFill>
                <a:srgbClr val="6C348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C3483"/>
              </a:solidFill>
              <a:ln w="9525" cap="flat">
                <a:solidFill>
                  <a:srgbClr val="6C3483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Baseline</c:v>
                </c:pt>
                <c:pt idx="1">
                  <c:v>Period 1</c:v>
                </c:pt>
                <c:pt idx="2">
                  <c:v>Period 2</c:v>
                </c:pt>
                <c:pt idx="3">
                  <c:v>Period 3</c:v>
                </c:pt>
                <c:pt idx="4">
                  <c:v>Period 4</c:v>
                </c:pt>
                <c:pt idx="5">
                  <c:v>Period 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0.78900000000000003</c:v>
                </c:pt>
                <c:pt idx="1">
                  <c:v>0.78900000000000003</c:v>
                </c:pt>
                <c:pt idx="2">
                  <c:v>0.78800000000000003</c:v>
                </c:pt>
                <c:pt idx="3">
                  <c:v>0.78800000000000003</c:v>
                </c:pt>
                <c:pt idx="4">
                  <c:v>0.79400000000000004</c:v>
                </c:pt>
                <c:pt idx="5">
                  <c:v>0.78400000000000003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3A0-499C-A749-4E2477DBB60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2"/>
          <c:min val="0.7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3096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Churn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with MLflow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292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Ali - 2104642 | AIN-3009 </a:t>
            </a:r>
            <a:r>
              <a:rPr lang="en-US" sz="1600" dirty="0" err="1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and Evaluation of a Machine Learning Lifecycle Management System using MLflow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Dataset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931920" cy="4114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572768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companies lose revenue when customers switch providers (churn).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which customers will churn so the company can act early.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Retaining a customer costs </a:t>
            </a: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 less</a:t>
            </a: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acquiring a new one.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93192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0" y="10789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Telco Churn CSV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572768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7,043 customers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features per customer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rate: ~26%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type, Monthly charges,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Tenure, Internet service,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method, Senior citizen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= Yes / No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MLflow?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4023360" cy="1691640"/>
          </a:xfrm>
          <a:prstGeom prst="rect">
            <a:avLst/>
          </a:prstGeom>
          <a:solidFill>
            <a:srgbClr val="1B4F72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640080" cy="16916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4048" y="1600200"/>
            <a:ext cx="603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26187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6459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parameters, metrics, and artifacts for every training run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023360" cy="1691640"/>
          </a:xfrm>
          <a:prstGeom prst="rect">
            <a:avLst/>
          </a:prstGeom>
          <a:solidFill>
            <a:srgbClr val="1B4F72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640080" cy="16916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73168" y="1600200"/>
            <a:ext cx="603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0" y="126187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Packaging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0" y="16459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models in a standard format loadable by any tool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4023360" cy="1691640"/>
          </a:xfrm>
          <a:prstGeom prst="rect">
            <a:avLst/>
          </a:prstGeom>
          <a:solidFill>
            <a:srgbClr val="1B4F72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640080" cy="16916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4048" y="3520440"/>
            <a:ext cx="603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97280" y="31821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35661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for models — Staging, Production, Archived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3017520"/>
            <a:ext cx="4023360" cy="1691640"/>
          </a:xfrm>
          <a:prstGeom prst="rect">
            <a:avLst/>
          </a:prstGeom>
          <a:solidFill>
            <a:srgbClr val="1B4F72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54880" y="3017520"/>
            <a:ext cx="640080" cy="16916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73168" y="3520440"/>
            <a:ext cx="603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486400" y="31821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0" y="35661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models as REST APIs with one command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across all 5 objectives in this project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 — Experiment Tracking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06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606040" cy="5486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24688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7432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2920" y="32461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5204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0.840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200400" y="960120"/>
            <a:ext cx="2606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0" y="960120"/>
            <a:ext cx="2606040" cy="54864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91840" y="10058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37560" y="16916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1965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78.0%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337560" y="24688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27432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337560" y="32461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37560" y="35204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0.819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035040" y="960120"/>
            <a:ext cx="2606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035040" y="960120"/>
            <a:ext cx="2606040" cy="54864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26480" y="10058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72200" y="16916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72200" y="1965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78.9%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172200" y="24688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72200" y="27432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172200" y="32461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72200" y="35204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0.823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365760" y="4297680"/>
            <a:ext cx="8412480" cy="640080"/>
          </a:xfrm>
          <a:prstGeom prst="rect">
            <a:avLst/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8640" y="437083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logged per run:  model_type  ·  parameters  ·  accuracy  ·  f1_score  ·  auc_roc  ·  model artifact (.pkl)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 — Hyperparameter Tuning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2024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" y="17373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min_samples_split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94560" y="1828800"/>
            <a:ext cx="274320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468880" y="1005840"/>
            <a:ext cx="192024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14600" y="10972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14600" y="17373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Intelligently picks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combination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1828800"/>
            <a:ext cx="274320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192024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09160" y="10972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Trials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09160" y="17373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logged 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child run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0" y="1828800"/>
            <a:ext cx="274320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858000" y="1005840"/>
            <a:ext cx="192024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03720" y="10972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03720" y="17373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880360"/>
            <a:ext cx="8412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Parameters Found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33832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n_estimators: </a:t>
            </a:r>
            <a:r>
              <a:rPr lang="en-US" sz="140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    </a:t>
            </a:r>
            <a:r>
              <a:rPr lang="en-US" sz="1400" b="1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max_depth: </a:t>
            </a:r>
            <a:r>
              <a:rPr lang="en-US" sz="140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  </a:t>
            </a:r>
            <a:r>
              <a:rPr lang="en-US" sz="1400" b="1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min_samples_split: </a:t>
            </a:r>
            <a:r>
              <a:rPr lang="en-US" sz="140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accuracy: 80.0%   ·   F1: 0.577   ·   AUC: 0.837   ·   Registered as ChurnPredictor v1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 — Model Deployment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023360" cy="4572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Prediction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all 1,409 test customers at once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saved to batch_predictions.csv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5603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as artifact in MLflow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30175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1,409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1188720" y="3749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0" y="960120"/>
            <a:ext cx="4023360" cy="4572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1005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Prediction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1554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customer scored instantly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2057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Churn = Yes / No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25603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Churn probability %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77840" y="30175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0.76%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5577840" y="3749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churn prob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4 — Performance Monitoring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14400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914400"/>
            <a:ext cx="28346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035040" y="1005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035040" y="1417320"/>
            <a:ext cx="26517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simulated time periods
</a:t>
            </a: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adds growing noise to simulate real-world data drift.
</a:t>
            </a:r>
            <a:r>
              <a:rPr lang="en-US" sz="11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threshold: 5%
</a:t>
            </a: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accuracy drops &gt; 5pp, alert is triggered.
</a:t>
            </a:r>
            <a:r>
              <a:rPr lang="en-US" sz="11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logs per period:
</a:t>
            </a: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f1, auc_roc,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accuracy_drop, drift_detected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4251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periods: ✓ No drift detected — model remained stable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5 — Model Registry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920240" cy="1005840"/>
          </a:xfrm>
          <a:prstGeom prst="rect">
            <a:avLst/>
          </a:prstGeom>
          <a:solidFill>
            <a:srgbClr val="ABB2B9"/>
          </a:solidFill>
          <a:ln w="12700">
            <a:solidFill>
              <a:srgbClr val="ABB2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5727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registered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0" y="1508760"/>
            <a:ext cx="228600" cy="0"/>
          </a:xfrm>
          <a:prstGeom prst="line">
            <a:avLst/>
          </a:prstGeom>
          <a:noFill/>
          <a:ln w="25400">
            <a:solidFill>
              <a:srgbClr val="8592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14600" y="1005840"/>
            <a:ext cx="1920240" cy="10058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0" y="1097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60320" y="15727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QA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34840" y="1508760"/>
            <a:ext cx="228600" cy="0"/>
          </a:xfrm>
          <a:prstGeom prst="line">
            <a:avLst/>
          </a:prstGeom>
          <a:noFill/>
          <a:ln w="25400">
            <a:solidFill>
              <a:srgbClr val="8592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1920240" cy="10058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09160" y="1097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09160" y="15727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&amp; serving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0" y="1508760"/>
            <a:ext cx="228600" cy="0"/>
          </a:xfrm>
          <a:prstGeom prst="line">
            <a:avLst/>
          </a:prstGeom>
          <a:noFill/>
          <a:ln w="25400">
            <a:solidFill>
              <a:srgbClr val="8592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812280" y="1005840"/>
            <a:ext cx="1920240" cy="1005840"/>
          </a:xfrm>
          <a:prstGeom prst="rect">
            <a:avLst/>
          </a:prstGeom>
          <a:solidFill>
            <a:srgbClr val="85929E"/>
          </a:solidFill>
          <a:ln w="12700">
            <a:solidFill>
              <a:srgbClr val="8592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0" y="1097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0" y="15727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Deprecated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240280"/>
          <a:ext cx="8412480" cy="1371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Stage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 — 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trees, depth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8592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v3 — Tuned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trees, depth 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365760" y="3840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5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client.transition_model_version_stage(name='ChurnPredictor', version=3, stage='Production')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65760" y="43434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Registry gives teams a single source of truth: what is in Production right now?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292608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 Tracking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MLflow Runs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Done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Hyperparameter Tuning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Optuna + MLflow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Done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Deployment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MLflow Model Registry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Done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Monitoring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MLflow Metrics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Done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Registry + Stages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MlflowClient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Done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1605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6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results viewable in the MLflow UI: </a:t>
            </a:r>
            <a:r>
              <a:rPr lang="en-US" sz="1200" i="1" dirty="0" err="1">
                <a:solidFill>
                  <a:srgbClr val="D6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mlflow</a:t>
            </a:r>
            <a:r>
              <a:rPr lang="en-US" sz="1200" i="1" dirty="0">
                <a:solidFill>
                  <a:srgbClr val="D6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server --port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597</Words>
  <Application>Microsoft Office PowerPoint</Application>
  <PresentationFormat>On-screen Show (16:9)</PresentationFormat>
  <Paragraphs>159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OMAR SALAHYOUSSEF ALI</cp:lastModifiedBy>
  <cp:revision>6</cp:revision>
  <dcterms:created xsi:type="dcterms:W3CDTF">2026-05-31T18:30:13Z</dcterms:created>
  <dcterms:modified xsi:type="dcterms:W3CDTF">2026-05-31T19:06:17Z</dcterms:modified>
</cp:coreProperties>
</file>